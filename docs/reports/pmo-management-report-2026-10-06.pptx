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dPt>
            <c:idx val="0"/>
            <c:spPr>
              <a:solidFill>
                <a:srgbClr val="8F9BB3"/>
              </a:solidFill>
            </c:spPr>
          </c:dPt>
          <c:dPt>
            <c:idx val="1"/>
            <c:spPr>
              <a:solidFill>
                <a:srgbClr val="1D5FD6"/>
              </a:solidFill>
            </c:spPr>
          </c:dPt>
          <c:dPt>
            <c:idx val="2"/>
            <c:spPr>
              <a:solidFill>
                <a:srgbClr val="C0223A"/>
              </a:solidFill>
            </c:spPr>
          </c:dPt>
          <c:dPt>
            <c:idx val="3"/>
            <c:spPr>
              <a:solidFill>
                <a:srgbClr val="2E8B57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Calibri"/>
                      </a:rPr>
                      <a:t>3 (37.5%)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Calibri"/>
                      </a:rPr>
                      <a:t>2 (25%)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Calibri"/>
                      </a:rPr>
                      <a:t>2 (25%)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  <a:latin typeface="Calibri"/>
                      </a:rPr>
                      <a:t>1 (12.5%)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Backlog</c:v>
                </c:pt>
                <c:pt idx="1">
                  <c:v>In Progress</c:v>
                </c:pt>
                <c:pt idx="2">
                  <c:v>Blocked</c:v>
                </c:pt>
                <c:pt idx="3">
                  <c:v>Done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Scoring rules: priority (Critical 40, High 25, Medium 10, Low 0) + 25 if overdue + 1 per day overdue (max 15) + 15 if Blocked + 10 for Compliance or Cybersecurity. Done tasks score 0. CRITICAL = not Done and (Critical priority or score &gt;= 60); ranked by score, highest first.</a:t>
            </a:r>
          </a:p>
          <a:p>
            <a:r>
              <a:t>Validation checks run: required fields; allowed values; IDs unique and format; dates real and not suspect; lengths; duplicates; reconciliation: status counts sum to total; reconciliation: overdue count recomputed independently; reconciliation: pie percentages sum to 100%; consistency: Done not overdue/critical. Result: Data validated: 0 errors, 0 warnings.</a:t>
            </a:r>
          </a:p>
          <a:p>
            <a:r>
              <a:t>As-of date for overdue calculations: 2026-10-06. Source: seedTasks() in index.html, parsed by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54864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ABC IT PMO: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0">
                <a:solidFill>
                  <a:srgbClr val="D6E2F8"/>
                </a:solidFill>
                <a:latin typeface="Calibri"/>
              </a:rPr>
              <a:t>Executive summary and items needing management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As of 2026-10-06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Prepared by PMO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D6E2F8"/>
                </a:solidFill>
                <a:latin typeface="Calibri"/>
              </a:rPr>
              <a:t>Source: board seed data, 8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73152"/>
            <a:ext cx="324612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As of 2026-10-06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822960"/>
          <a:ext cx="493776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127248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2F6B"/>
                </a:solidFill>
                <a:latin typeface="Calibri"/>
              </a:rPr>
              <a:t>8 tasks, 5 overdue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868680"/>
            <a:ext cx="45720" cy="25146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841248"/>
            <a:ext cx="63093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0B2F6B"/>
                </a:solidFill>
                <a:latin typeface="Calibri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234440"/>
            <a:ext cx="63093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B2F6B"/>
                </a:solidFill>
                <a:latin typeface="Calibri"/>
              </a:rPr>
              <a:t>• 25% blocked (2):</a:t>
            </a:r>
            <a:r>
              <a:rPr sz="1600">
                <a:solidFill>
                  <a:srgbClr val="333A45"/>
                </a:solidFill>
                <a:latin typeface="Calibri"/>
              </a:rPr>
              <a:t> escalate ABC-ITPM-0002 (Arjun Nair) to a sponsor; agree an unblock date.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B2F6B"/>
                </a:solidFill>
                <a:latin typeface="Calibri"/>
              </a:rPr>
              <a:t>• 37.5% backlog (3):</a:t>
            </a:r>
            <a:r>
              <a:rPr sz="1600">
                <a:solidFill>
                  <a:srgbClr val="333A45"/>
                </a:solidFill>
                <a:latin typeface="Calibri"/>
              </a:rPr>
              <a:t> start ABC-ITPM-0007 (Siti Rahman) now; pause ABC-ITPM-0004.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B2F6B"/>
                </a:solidFill>
                <a:latin typeface="Calibri"/>
              </a:rPr>
              <a:t>• 25% in progress (2):</a:t>
            </a:r>
            <a:r>
              <a:rPr sz="1600">
                <a:solidFill>
                  <a:srgbClr val="333A45"/>
                </a:solidFill>
                <a:latin typeface="Calibri"/>
              </a:rPr>
              <a:t> protect Michelle Goh's time on ABC-ITPM-0003; agree recovery date, add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56432"/>
            <a:ext cx="116128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C0223A"/>
                </a:solidFill>
                <a:latin typeface="Calibri"/>
              </a:rPr>
              <a:t>Critical: needs management attention (4)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3794760"/>
          <a:ext cx="1161288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88720"/>
                <a:gridCol w="2148840"/>
                <a:gridCol w="1051560"/>
                <a:gridCol w="868680"/>
                <a:gridCol w="868680"/>
                <a:gridCol w="594360"/>
                <a:gridCol w="1737360"/>
                <a:gridCol w="26517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Redirect</a:t>
                      </a:r>
                    </a:p>
                  </a:txBody>
                  <a:tcPr marL="45720" marR="45720" marT="18288" marB="18288" anchor="ctr">
                    <a:solidFill>
                      <a:srgbClr val="0B2F6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A4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ABC-ITPM-0002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223A"/>
                          </a:solidFill>
                          <a:latin typeface="Calibri"/>
                        </a:rPr>
                        <a:t>CRITICAL</a:t>
                      </a:r>
                    </a:p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Patch CVE-2025-41210 on branch teller VDI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Arjun Nair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2026-09-10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223A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Critical priority, overdue 26d, blocked, cybersecurity exposure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Escalate dependency to a sponsor; agree unblock date.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A4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ABC-ITPM-0007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223A"/>
                          </a:solidFill>
                          <a:latin typeface="Calibri"/>
                        </a:rPr>
                        <a:t>CRITICAL</a:t>
                      </a:r>
                    </a:p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Complete MAS TRM compliance checklist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Siti Rahman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2026-09-30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Backlog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223A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Critical priority, overdue 6d, compliance exposure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Start now; pause ABC-ITPM-0004 (lowest impact).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A4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ABC-ITPM-0005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223A"/>
                          </a:solidFill>
                          <a:latin typeface="Calibri"/>
                        </a:rPr>
                        <a:t>CRITICAL</a:t>
                      </a:r>
                    </a:p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Vendor risk assessment — core switching provider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Priya Sharma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2026-09-05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223A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Medium priority, overdue 31d, blocked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Escalate dependency to a sponsor; agree unblock date.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33A4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ABC-ITPM-0003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223A"/>
                          </a:solidFill>
                          <a:latin typeface="Calibri"/>
                        </a:rPr>
                        <a:t>CRITICAL</a:t>
                      </a:r>
                    </a:p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UAT sign-off for mobile onboarding release 4.2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Michelle Goh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2026-09-25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223A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High priority, overdue 11d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A45"/>
                          </a:solidFill>
                          <a:latin typeface="Calibri"/>
                        </a:rPr>
                        <a:t>Protect owner's time; agree recovery date; add support.</a:t>
                      </a:r>
                    </a:p>
                  </a:txBody>
                  <a:tcPr marL="45720" marR="45720" marT="18288" marB="18288"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As of 2026-10-06  |  Data validated: 0 errors, 0 warnings  |  Source: board seed data (live board may differ)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0">
                <a:solidFill>
                  <a:srgbClr val="D6E2F8"/>
                </a:solidFill>
                <a:latin typeface="Calibri"/>
              </a:rPr>
              <a:t>Questions and discussion are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As of 2026-10-06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